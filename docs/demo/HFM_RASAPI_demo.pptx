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35C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514600"/>
            <a:ext cx="5669280" cy="54864"/>
          </a:xfrm>
          <a:prstGeom prst="rect">
            <a:avLst/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35C2D1"/>
                </a:solidFill>
                <a:latin typeface="Calibri"/>
              </a:rPr>
              <a:t>OCP CHINA · HARDWARE FAULT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4F7FA"/>
                </a:solidFill>
                <a:latin typeface="Calibri"/>
              </a:rPr>
              <a:t>Hardware Fault Management RAS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B8C4D0"/>
                </a:solidFill>
                <a:latin typeface="Calibri"/>
              </a:rPr>
              <a:t>PLDM over MCTP end-to-end demo — OpenBMC (AST2600) ↔ Zephyr (RISC-V), bridged over two live QEMU instances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611880"/>
            <a:ext cx="2606040" cy="1371600"/>
          </a:xfrm>
          <a:prstGeom prst="rect">
            <a:avLst/>
          </a:prstGeom>
          <a:solidFill>
            <a:srgbClr val="1E3A5F"/>
          </a:solidFill>
          <a:ln w="9525">
            <a:solidFill>
              <a:srgbClr val="35C2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749039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5C2D1"/>
                </a:solidFill>
                <a:latin typeface="Calibri"/>
              </a:rPr>
              <a:t>Requester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1480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4F7FA"/>
                </a:solidFill>
                <a:latin typeface="Calibri"/>
              </a:rPr>
              <a:t>OpenBMC pldmd / mctpd — EID 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93591" y="3611880"/>
            <a:ext cx="2606040" cy="1371600"/>
          </a:xfrm>
          <a:prstGeom prst="rect">
            <a:avLst/>
          </a:prstGeom>
          <a:solidFill>
            <a:srgbClr val="1E3A5F"/>
          </a:solidFill>
          <a:ln w="9525">
            <a:solidFill>
              <a:srgbClr val="35C2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6472" y="3749039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5C2D1"/>
                </a:solidFill>
                <a:latin typeface="Calibri"/>
              </a:rPr>
              <a:t>Responder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6472" y="411480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4F7FA"/>
                </a:solidFill>
                <a:latin typeface="Calibri"/>
              </a:rPr>
              <a:t>Zephyr serial_bridge — EID 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64223" y="3611880"/>
            <a:ext cx="2606040" cy="1371600"/>
          </a:xfrm>
          <a:prstGeom prst="rect">
            <a:avLst/>
          </a:prstGeom>
          <a:solidFill>
            <a:srgbClr val="1E3A5F"/>
          </a:solidFill>
          <a:ln w="9525">
            <a:solidFill>
              <a:srgbClr val="35C2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3" y="3749039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5C2D1"/>
                </a:solidFill>
                <a:latin typeface="Calibri"/>
              </a:rPr>
              <a:t>Transport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3" y="411480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4F7FA"/>
                </a:solidFill>
                <a:latin typeface="Calibri"/>
              </a:rPr>
              <a:t>MCTP-over-serial (DSP0253) via unix socket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34855" y="3611880"/>
            <a:ext cx="2606040" cy="1371600"/>
          </a:xfrm>
          <a:prstGeom prst="rect">
            <a:avLst/>
          </a:prstGeom>
          <a:solidFill>
            <a:srgbClr val="1E3A5F"/>
          </a:solidFill>
          <a:ln w="9525">
            <a:solidFill>
              <a:srgbClr val="35C2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17735" y="3749039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5C2D1"/>
                </a:solidFill>
                <a:latin typeface="Calibri"/>
              </a:rPr>
              <a:t>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17735" y="411480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4F7FA"/>
                </a:solidFill>
                <a:latin typeface="Calibri"/>
              </a:rPr>
              <a:t>Auto-discovery + fwd/reverse PLDM (rc=0)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9496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B8C4D0"/>
                </a:solidFill>
                <a:latin typeface="Calibri"/>
              </a:rPr>
              <a:t>Demo host: internal dev machine   ·   branch RASAPI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9436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35C2D1"/>
                </a:solidFill>
                <a:latin typeface="Calibri"/>
              </a:rPr>
              <a:t>Presenter guide: see DEMO_GUIDE.md for the exact step-by-step SSH walkthrough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35C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5C2D1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4F7FA"/>
                </a:solidFill>
                <a:latin typeface="Calibri"/>
              </a:rPr>
              <a:t>What we will demonstrate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600200"/>
            <a:ext cx="640080" cy="640080"/>
          </a:xfrm>
          <a:prstGeom prst="ellipse">
            <a:avLst/>
          </a:prstGeom>
          <a:solidFill>
            <a:srgbClr val="35C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55064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581912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4F7FA"/>
                </a:solidFill>
                <a:latin typeface="Calibri"/>
              </a:rPr>
              <a:t>The problem &amp; the RAS API 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B8C4D0"/>
                </a:solidFill>
                <a:latin typeface="Calibri"/>
              </a:rPr>
              <a:t>Why HFM needs a standard sensor/effecter transport between a BMC and satellite MCUs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395728"/>
            <a:ext cx="640080" cy="640080"/>
          </a:xfrm>
          <a:prstGeom prst="ellipse">
            <a:avLst/>
          </a:prstGeom>
          <a:solidFill>
            <a:srgbClr val="35C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50592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A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37744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4F7FA"/>
                </a:solidFill>
                <a:latin typeface="Calibri"/>
              </a:rPr>
              <a:t>Architecture — the four moving pieces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76148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B8C4D0"/>
                </a:solidFill>
                <a:latin typeface="Calibri"/>
              </a:rPr>
              <a:t>QEMU 11 · Zephyr on RISC-V · I3C model · MCTP+PLDM stack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191256"/>
            <a:ext cx="640080" cy="640080"/>
          </a:xfrm>
          <a:prstGeom prst="ellipse">
            <a:avLst/>
          </a:prstGeom>
          <a:solidFill>
            <a:srgbClr val="35C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4612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172968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4F7FA"/>
                </a:solidFill>
                <a:latin typeface="Calibri"/>
              </a:rPr>
              <a:t>The realized topology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557016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B8C4D0"/>
                </a:solidFill>
                <a:latin typeface="Calibri"/>
              </a:rPr>
              <a:t>Two QEMU instances bridged over MCTP-serial (DSP0253)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3986784"/>
            <a:ext cx="640080" cy="640080"/>
          </a:xfrm>
          <a:prstGeom prst="ellipse">
            <a:avLst/>
          </a:prstGeom>
          <a:solidFill>
            <a:srgbClr val="35C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041648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A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68496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4F7FA"/>
                </a:solidFill>
                <a:latin typeface="Calibri"/>
              </a:rPr>
              <a:t>Live demo — forward discovery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35254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B8C4D0"/>
                </a:solidFill>
                <a:latin typeface="Calibri"/>
              </a:rPr>
              <a:t>OpenBMC pldmtool drives PLDM Type 0/2 against Zephyr EID 18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4782312"/>
            <a:ext cx="640080" cy="640080"/>
          </a:xfrm>
          <a:prstGeom prst="ellipse">
            <a:avLst/>
          </a:prstGeom>
          <a:solidFill>
            <a:srgbClr val="35C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837176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A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764024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4F7FA"/>
                </a:solidFill>
                <a:latin typeface="Calibri"/>
              </a:rPr>
              <a:t>Live demo — reverse path (patch 0009)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14807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B8C4D0"/>
                </a:solidFill>
                <a:latin typeface="Calibri"/>
              </a:rPr>
              <a:t>Zephyr requester → BMC responder, tag-owner bit fix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5577840"/>
            <a:ext cx="640080" cy="640080"/>
          </a:xfrm>
          <a:prstGeom prst="ellipse">
            <a:avLst/>
          </a:prstGeom>
          <a:solidFill>
            <a:srgbClr val="35C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632704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B1F3A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559552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4F7FA"/>
                </a:solidFill>
                <a:latin typeface="Calibri"/>
              </a:rPr>
              <a:t>Full auto-discovery — three fixes &amp; wrap-up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59436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B8C4D0"/>
                </a:solidFill>
                <a:latin typeface="Calibri"/>
              </a:rPr>
              <a:t>kernel busy-loop (0010) + control TO bit (0011) + systemd order (0006)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8C4D0"/>
                </a:solidFill>
                <a:latin typeface="Calibri"/>
              </a:rPr>
              <a:t>Hardware Fault Management · RAS API · MCTP/PLDM over QEMU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8C4D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35C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5C2D1"/>
                </a:solidFill>
                <a:latin typeface="Calibri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4F7FA"/>
                </a:solidFill>
                <a:latin typeface="Calibri"/>
              </a:rPr>
              <a:t>Why a RAS API — and why PLDM over MCTP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94960" cy="44805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2A63B"/>
                </a:solidFill>
                <a:latin typeface="Calibri"/>
              </a:rPr>
              <a:t>The pain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498348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F4F7FA"/>
                </a:solidFill>
                <a:latin typeface="Calibri"/>
              </a:rPr>
              <a:t>Large-scale data centers must detect, report and act on hardware faults across thousands of heterogeneous devices.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 i="0">
                <a:solidFill>
                  <a:srgbClr val="F4F7FA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B8C4D0"/>
                </a:solidFill>
                <a:latin typeface="Calibri"/>
              </a:rPr>
              <a:t>A BMC needs a vendor-neutral way to: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4F7FA"/>
                </a:solidFill>
                <a:latin typeface="Calibri"/>
              </a:rPr>
              <a:t>•  discover satellite controllers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4F7FA"/>
                </a:solidFill>
                <a:latin typeface="Calibri"/>
              </a:rPr>
              <a:t>•  read sensors (temp, voltage, fan)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4F7FA"/>
                </a:solidFill>
                <a:latin typeface="Calibri"/>
              </a:rPr>
              <a:t>•  read/set thresholds &amp; effecters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4F7FA"/>
                </a:solidFill>
                <a:latin typeface="Calibri"/>
              </a:rPr>
              <a:t>•  receive async fault events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54480"/>
            <a:ext cx="5394960" cy="44805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35C2D1"/>
                </a:solidFill>
                <a:latin typeface="Calibri"/>
              </a:rPr>
              <a:t>The DMTF PMCI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498348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F4F7FA"/>
                </a:solidFill>
                <a:latin typeface="Calibri"/>
              </a:rPr>
              <a:t>PLDM (Platform Level Data Model) carried over MCTP (Management Component Transport Protocol).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600" b="0" i="0">
                <a:solidFill>
                  <a:srgbClr val="F4F7FA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B8C4D0"/>
                </a:solidFill>
                <a:latin typeface="Calibri"/>
              </a:rPr>
              <a:t>This demo proves the full stack on emulated hardware: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5C2D1"/>
                </a:solidFill>
                <a:latin typeface="Calibri"/>
              </a:rPr>
              <a:t>PLDM Type 0</a:t>
            </a:r>
            <a:r>
              <a:rPr sz="1400" b="0" i="0">
                <a:solidFill>
                  <a:srgbClr val="F4F7FA"/>
                </a:solidFill>
                <a:latin typeface="Calibri"/>
              </a:rPr>
              <a:t>  — base / discovery (DSP0240)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5C2D1"/>
                </a:solidFill>
                <a:latin typeface="Calibri"/>
              </a:rPr>
              <a:t>PLDM Type 2</a:t>
            </a:r>
            <a:r>
              <a:rPr sz="1400" b="0" i="0">
                <a:solidFill>
                  <a:srgbClr val="F4F7FA"/>
                </a:solidFill>
                <a:latin typeface="Calibri"/>
              </a:rPr>
              <a:t>  — platform monitoring, PDR &amp; sensors (DSP0248)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5C2D1"/>
                </a:solidFill>
                <a:latin typeface="Calibri"/>
              </a:rPr>
              <a:t>MCTP</a:t>
            </a:r>
            <a:r>
              <a:rPr sz="1400" b="0" i="0">
                <a:solidFill>
                  <a:srgbClr val="F4F7FA"/>
                </a:solidFill>
                <a:latin typeface="Calibri"/>
              </a:rPr>
              <a:t>  — transport &amp; EID routing (DSP0236)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8C4D0"/>
                </a:solidFill>
                <a:latin typeface="Calibri"/>
              </a:rPr>
              <a:t>Hardware Fault Management · RAS API · MCTP/PLDM over QEMU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8C4D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35C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5C2D1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4F7FA"/>
                </a:solidFill>
                <a:latin typeface="Calibri"/>
              </a:rPr>
              <a:t>The protocol layer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2103120" y="1691640"/>
            <a:ext cx="7955279" cy="658368"/>
          </a:xfrm>
          <a:prstGeom prst="rect">
            <a:avLst/>
          </a:prstGeom>
          <a:solidFill>
            <a:srgbClr val="35C2D1"/>
          </a:solidFill>
          <a:ln w="9525">
            <a:solidFill>
              <a:srgbClr val="35C2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31720" y="1801368"/>
            <a:ext cx="7589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1F3A"/>
                </a:solidFill>
                <a:latin typeface="Calibri"/>
              </a:rPr>
              <a:t>App — PLDM Type 0/2 responder  (samples/.../serial_bridge)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295144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B8C4D0"/>
                </a:solidFill>
                <a:latin typeface="Calibri"/>
              </a:rPr>
              <a:t>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2441448"/>
            <a:ext cx="7955279" cy="658368"/>
          </a:xfrm>
          <a:prstGeom prst="rect">
            <a:avLst/>
          </a:prstGeom>
          <a:solidFill>
            <a:srgbClr val="1E3A5F"/>
          </a:solidFill>
          <a:ln w="9525">
            <a:solidFill>
              <a:srgbClr val="35C2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2551176"/>
            <a:ext cx="7589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4F7FA"/>
                </a:solidFill>
                <a:latin typeface="Calibri"/>
              </a:rPr>
              <a:t>libpldm — encode/decode  (vendored openbmc/libpldm)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3044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B8C4D0"/>
                </a:solidFill>
                <a:latin typeface="Calibri"/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3120" y="3191256"/>
            <a:ext cx="7955279" cy="658368"/>
          </a:xfrm>
          <a:prstGeom prst="rect">
            <a:avLst/>
          </a:prstGeom>
          <a:solidFill>
            <a:srgbClr val="1E3A5F"/>
          </a:solidFill>
          <a:ln w="9525">
            <a:solidFill>
              <a:srgbClr val="35C2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3300984"/>
            <a:ext cx="7589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4F7FA"/>
                </a:solidFill>
                <a:latin typeface="Calibri"/>
              </a:rPr>
              <a:t>libmctp — framing, EID routing  (upstream module)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3794759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B8C4D0"/>
                </a:solidFill>
                <a:latin typeface="Calibri"/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3941063"/>
            <a:ext cx="7955279" cy="658368"/>
          </a:xfrm>
          <a:prstGeom prst="rect">
            <a:avLst/>
          </a:prstGeom>
          <a:solidFill>
            <a:srgbClr val="1E3A5F"/>
          </a:solidFill>
          <a:ln w="9525">
            <a:solidFill>
              <a:srgbClr val="35C2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4050791"/>
            <a:ext cx="7589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4F7FA"/>
                </a:solidFill>
                <a:latin typeface="Calibri"/>
              </a:rPr>
              <a:t>MCTP bindings — serial DSP0253 · I3C DSP0233 · I2C DSP0237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454456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B8C4D0"/>
                </a:solidFill>
                <a:latin typeface="Calibri"/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03120" y="4690872"/>
            <a:ext cx="7955279" cy="658368"/>
          </a:xfrm>
          <a:prstGeom prst="rect">
            <a:avLst/>
          </a:prstGeom>
          <a:solidFill>
            <a:srgbClr val="1E3A5F"/>
          </a:solidFill>
          <a:ln w="9525">
            <a:solidFill>
              <a:srgbClr val="35C2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31720" y="4800600"/>
            <a:ext cx="7589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4F7FA"/>
                </a:solidFill>
                <a:latin typeface="Calibri"/>
              </a:rPr>
              <a:t>Zephyr UART / I3C driver  (upstream)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5294376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B8C4D0"/>
                </a:solidFill>
                <a:latin typeface="Calibri"/>
              </a:rP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5440680"/>
            <a:ext cx="7955279" cy="658368"/>
          </a:xfrm>
          <a:prstGeom prst="rect">
            <a:avLst/>
          </a:prstGeom>
          <a:solidFill>
            <a:srgbClr val="1E3A5F"/>
          </a:solidFill>
          <a:ln w="9525">
            <a:solidFill>
              <a:srgbClr val="35C2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31720" y="5550408"/>
            <a:ext cx="7589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4F7FA"/>
                </a:solidFill>
                <a:latin typeface="Calibri"/>
              </a:rPr>
              <a:t>QEMU 11 machine model  (sifive_u / ast2600-evb)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B8C4D0"/>
                </a:solidFill>
                <a:latin typeface="Calibri"/>
              </a:rPr>
              <a:t>Delivered as numbered patches 0001–0011 under patches/ — full apply order in patches/README.md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8C4D0"/>
                </a:solidFill>
                <a:latin typeface="Calibri"/>
              </a:rPr>
              <a:t>Hardware Fault Management · RAS API · MCTP/PLDM over QEMU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8C4D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35C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5C2D1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4F7FA"/>
                </a:solidFill>
                <a:latin typeface="Calibri"/>
              </a:rPr>
              <a:t>Realized topology — two QEMU instances over MCTP-serial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4754880" cy="3200400"/>
          </a:xfrm>
          <a:prstGeom prst="rect">
            <a:avLst/>
          </a:prstGeom>
          <a:solidFill>
            <a:srgbClr val="1E3A5F"/>
          </a:solidFill>
          <a:ln w="19050">
            <a:solidFill>
              <a:srgbClr val="F2A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2A63B"/>
                </a:solidFill>
                <a:latin typeface="Calibri"/>
              </a:rPr>
              <a:t>OpenBMC QEMU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B8C4D0"/>
                </a:solidFill>
                <a:latin typeface="Consolas"/>
              </a:rPr>
              <a:t>-machine ast2600-evb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788920"/>
            <a:ext cx="4297680" cy="411480"/>
          </a:xfrm>
          <a:prstGeom prst="rect">
            <a:avLst/>
          </a:prstGeom>
          <a:solidFill>
            <a:srgbClr val="101828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816352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4F7FA"/>
                </a:solidFill>
                <a:latin typeface="Calibri"/>
              </a:rPr>
              <a:t>pldmd  (PLDM Type 0/2 requester)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291839"/>
            <a:ext cx="4297680" cy="411480"/>
          </a:xfrm>
          <a:prstGeom prst="rect">
            <a:avLst/>
          </a:prstGeom>
          <a:solidFill>
            <a:srgbClr val="101828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319272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4F7FA"/>
                </a:solidFill>
                <a:latin typeface="Calibri"/>
              </a:rPr>
              <a:t>mctpd  (AF_MCTP bus-owner)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794760"/>
            <a:ext cx="4297680" cy="411480"/>
          </a:xfrm>
          <a:prstGeom prst="rect">
            <a:avLst/>
          </a:prstGeom>
          <a:solidFill>
            <a:srgbClr val="101828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822191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4F7FA"/>
                </a:solidFill>
                <a:latin typeface="Calibri"/>
              </a:rPr>
              <a:t>kernel mctp-serial driver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4297680"/>
            <a:ext cx="4297680" cy="411480"/>
          </a:xfrm>
          <a:prstGeom prst="rect">
            <a:avLst/>
          </a:prstGeom>
          <a:solidFill>
            <a:srgbClr val="101828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25112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5C2D1"/>
                </a:solidFill>
                <a:latin typeface="Calibri"/>
              </a:rPr>
              <a:t>EID 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12280" y="1828800"/>
            <a:ext cx="4754880" cy="3200400"/>
          </a:xfrm>
          <a:prstGeom prst="rect">
            <a:avLst/>
          </a:prstGeom>
          <a:solidFill>
            <a:srgbClr val="1E3A5F"/>
          </a:solidFill>
          <a:ln w="19050">
            <a:solidFill>
              <a:srgbClr val="35C2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196596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5C2D1"/>
                </a:solidFill>
                <a:latin typeface="Calibri"/>
              </a:rPr>
              <a:t>Zephyr QEMU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B8C4D0"/>
                </a:solidFill>
                <a:latin typeface="Consolas"/>
              </a:rPr>
              <a:t>-machine sifive_u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0" y="2788920"/>
            <a:ext cx="4297680" cy="411480"/>
          </a:xfrm>
          <a:prstGeom prst="rect">
            <a:avLst/>
          </a:prstGeom>
          <a:solidFill>
            <a:srgbClr val="101828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78040" y="2816352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4F7FA"/>
                </a:solidFill>
                <a:latin typeface="Calibri"/>
              </a:rPr>
              <a:t>serial_bridge sample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3291839"/>
            <a:ext cx="4297680" cy="411480"/>
          </a:xfrm>
          <a:prstGeom prst="rect">
            <a:avLst/>
          </a:prstGeom>
          <a:solidFill>
            <a:srgbClr val="101828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3319272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4F7FA"/>
                </a:solidFill>
                <a:latin typeface="Calibri"/>
              </a:rPr>
              <a:t>PLDM Type 0 + Type 2 responder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0" y="3794760"/>
            <a:ext cx="4297680" cy="411480"/>
          </a:xfrm>
          <a:prstGeom prst="rect">
            <a:avLst/>
          </a:prstGeom>
          <a:solidFill>
            <a:srgbClr val="101828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78040" y="3822191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4F7FA"/>
                </a:solidFill>
                <a:latin typeface="Calibri"/>
              </a:rPr>
              <a:t>MCTP control responder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80" y="4297680"/>
            <a:ext cx="4297680" cy="411480"/>
          </a:xfrm>
          <a:prstGeom prst="rect">
            <a:avLst/>
          </a:prstGeom>
          <a:solidFill>
            <a:srgbClr val="101828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78040" y="4325112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5C2D1"/>
                </a:solidFill>
                <a:latin typeface="Calibri"/>
              </a:rPr>
              <a:t>EID 18</a:t>
            </a:r>
          </a:p>
        </p:txBody>
      </p:sp>
      <p:sp>
        <p:nvSpPr>
          <p:cNvPr id="26" name="Left-Right Arrow 25"/>
          <p:cNvSpPr/>
          <p:nvPr/>
        </p:nvSpPr>
        <p:spPr>
          <a:xfrm>
            <a:off x="5394960" y="3246120"/>
            <a:ext cx="1417320" cy="411480"/>
          </a:xfrm>
          <a:prstGeom prst="leftRightArrow">
            <a:avLst/>
          </a:prstGeom>
          <a:solidFill>
            <a:srgbClr val="4CC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5166360"/>
            <a:ext cx="5669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4CC96A"/>
                </a:solidFill>
                <a:latin typeface="Consolas"/>
              </a:rPr>
              <a:t>unix socket  /tmp/hfm-mctp.sock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B8C4D0"/>
                </a:solidFill>
                <a:latin typeface="Calibri"/>
              </a:rPr>
              <a:t>OpenBMC = socket server (start first) · Zephyr = client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B8C4D0"/>
                </a:solidFill>
                <a:latin typeface="Calibri"/>
              </a:rPr>
              <a:t>MCTP link rides each side's SECOND -serial backend (uart1 / ttyS0); the first -serial stays the console.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8C4D0"/>
                </a:solidFill>
                <a:latin typeface="Calibri"/>
              </a:rPr>
              <a:t>Hardware Fault Management · RAS API · MCTP/PLDM over QEMU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8C4D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35C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5C2D1"/>
                </a:solidFill>
                <a:latin typeface="Calibri"/>
              </a:rPr>
              <a:t>PREREQUISITES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4F7FA"/>
                </a:solidFill>
                <a:latin typeface="Calibri"/>
              </a:rPr>
              <a:t>What is already built on the dev machine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10927080" cy="658368"/>
          </a:xfrm>
          <a:prstGeom prst="rect">
            <a:avLst/>
          </a:prstGeom>
          <a:solidFill>
            <a:srgbClr val="35C2D1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0B1F3A"/>
                </a:solidFill>
                <a:latin typeface="Calibri"/>
              </a:rPr>
              <a:t>Component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737360"/>
            <a:ext cx="5486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B1F3A"/>
                </a:solidFill>
                <a:latin typeface="Calibri"/>
              </a:rPr>
              <a:t>Location / artifact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9720" y="1737360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B1F3A"/>
                </a:solidFill>
                <a:latin typeface="Calibri"/>
              </a:rPr>
              <a:t>Verify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31720"/>
            <a:ext cx="10927080" cy="658368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2316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4F7FA"/>
                </a:solidFill>
                <a:latin typeface="Calibri"/>
              </a:rPr>
              <a:t>QEMU 11.0.0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423160"/>
            <a:ext cx="5486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4F7FA"/>
                </a:solidFill>
                <a:latin typeface="Consolas"/>
              </a:rPr>
              <a:t>~/qemu-build/bin/qemu-system-{arm,riscv64}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2423160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CC96A"/>
                </a:solidFill>
                <a:latin typeface="Consolas"/>
              </a:rPr>
              <a:t>runs -machine help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017520"/>
            <a:ext cx="10927080" cy="658368"/>
          </a:xfrm>
          <a:prstGeom prst="rect">
            <a:avLst/>
          </a:prstGeom>
          <a:solidFill>
            <a:srgbClr val="0B1F3A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0896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4F7FA"/>
                </a:solidFill>
                <a:latin typeface="Calibri"/>
              </a:rPr>
              <a:t>OpenBMC image (+0004/6/10)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108960"/>
            <a:ext cx="5486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4F7FA"/>
                </a:solidFill>
                <a:latin typeface="Consolas"/>
              </a:rPr>
              <a:t>obmc-phosphor-image-evb-ast2600.static.mtd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3108960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CC96A"/>
                </a:solidFill>
                <a:latin typeface="Consolas"/>
              </a:rPr>
              <a:t>md5 9a858c13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703320"/>
            <a:ext cx="10927080" cy="658368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794759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4F7FA"/>
                </a:solidFill>
                <a:latin typeface="Calibri"/>
              </a:rPr>
              <a:t>Zephyr ELF (+0009/0011)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794759"/>
            <a:ext cx="5486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4F7FA"/>
                </a:solidFill>
                <a:latin typeface="Consolas"/>
              </a:rPr>
              <a:t>build-serial-fix/zephyr/zephyr.elf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3794759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CC96A"/>
                </a:solidFill>
                <a:latin typeface="Consolas"/>
              </a:rPr>
              <a:t>md5 dd56e8fe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389120"/>
            <a:ext cx="10927080" cy="658368"/>
          </a:xfrm>
          <a:prstGeom prst="rect">
            <a:avLst/>
          </a:prstGeom>
          <a:solidFill>
            <a:srgbClr val="0B1F3A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480559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4F7FA"/>
                </a:solidFill>
                <a:latin typeface="Calibri"/>
              </a:rPr>
              <a:t>Test harness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4480559"/>
            <a:ext cx="5486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4F7FA"/>
                </a:solidFill>
                <a:latin typeface="Consolas"/>
              </a:rPr>
              <a:t>/tmp/hfm-verify/ (scripts + prebuilts)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4480559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CC96A"/>
                </a:solidFill>
                <a:latin typeface="Consolas"/>
              </a:rPr>
              <a:t>two_qemu_smoke.py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074920"/>
            <a:ext cx="10927080" cy="658368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166359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4F7FA"/>
                </a:solidFill>
                <a:latin typeface="Calibri"/>
              </a:rPr>
              <a:t>Launcher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5166359"/>
            <a:ext cx="5486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4F7FA"/>
                </a:solidFill>
                <a:latin typeface="Consolas"/>
              </a:rPr>
              <a:t>launch_openbmc.sh / launch_hfm.sh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5166359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CC96A"/>
                </a:solidFill>
                <a:latin typeface="Consolas"/>
              </a:rPr>
              <a:t>cold-boot auto-discovery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0807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F2A63B"/>
                </a:solidFill>
                <a:latin typeface="Calibri"/>
              </a:rPr>
              <a:t>QEMU writes the .mtd back in place — restore the pristine image from .mtd.gz before every run.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8C4D0"/>
                </a:solidFill>
                <a:latin typeface="Calibri"/>
              </a:rPr>
              <a:t>Hardware Fault Management · RAS API · MCTP/PLDM over QEMU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8C4D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35C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5C2D1"/>
                </a:solidFill>
                <a:latin typeface="Calibri"/>
              </a:rPr>
              <a:t>LIVE DEMO ·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4F7FA"/>
                </a:solidFill>
                <a:latin typeface="Calibri"/>
              </a:rPr>
              <a:t>Three SSH terminals — watch each boot yourself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3611880" cy="3977639"/>
          </a:xfrm>
          <a:prstGeom prst="rect">
            <a:avLst/>
          </a:prstGeom>
          <a:solidFill>
            <a:srgbClr val="1E3A5F"/>
          </a:solidFill>
          <a:ln w="15875">
            <a:solidFill>
              <a:srgbClr val="F2A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3611880" cy="566928"/>
          </a:xfrm>
          <a:prstGeom prst="rect">
            <a:avLst/>
          </a:prstGeom>
          <a:solidFill>
            <a:srgbClr val="F2A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3337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B1F3A"/>
                </a:solidFill>
                <a:latin typeface="Calibri"/>
              </a:rPr>
              <a:t>Terminal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8600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7FA"/>
                </a:solidFill>
                <a:latin typeface="Calibri"/>
              </a:rPr>
              <a:t>OpenBMC QEMU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65176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B8C4D0"/>
                </a:solidFill>
                <a:latin typeface="Calibri"/>
              </a:rPr>
              <a:t>socket server · start first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59" y="3063240"/>
            <a:ext cx="3246120" cy="2331720"/>
          </a:xfrm>
          <a:prstGeom prst="rect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19" y="3200400"/>
            <a:ext cx="30175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4F7FA"/>
                </a:solidFill>
                <a:latin typeface="Consolas"/>
              </a:rPr>
              <a:t>cd /tmp/hfm-verify/scripts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5C2D1"/>
                </a:solidFill>
                <a:latin typeface="Consolas"/>
              </a:rPr>
              <a:t>./launch_openbmc.sh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B8C4D0"/>
                </a:solidFill>
                <a:latin typeface="Consolas"/>
              </a:rPr>
              <a:t># press Enter, watch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B8C4D0"/>
                </a:solidFill>
                <a:latin typeface="Consolas"/>
              </a:rPr>
              <a:t># AST2600 boot -&gt; login: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1600200"/>
            <a:ext cx="3611880" cy="3977639"/>
          </a:xfrm>
          <a:prstGeom prst="rect">
            <a:avLst/>
          </a:prstGeom>
          <a:solidFill>
            <a:srgbClr val="1E3A5F"/>
          </a:solidFill>
          <a:ln w="15875">
            <a:solidFill>
              <a:srgbClr val="35C2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1600200"/>
            <a:ext cx="3611880" cy="566928"/>
          </a:xfrm>
          <a:prstGeom prst="rect">
            <a:avLst/>
          </a:prstGeom>
          <a:solidFill>
            <a:srgbClr val="35C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2" y="1664208"/>
            <a:ext cx="3337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B1F3A"/>
                </a:solidFill>
                <a:latin typeface="Calibri"/>
              </a:rPr>
              <a:t>Terminal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28600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7FA"/>
                </a:solidFill>
                <a:latin typeface="Calibri"/>
              </a:rPr>
              <a:t>Zephyr QEMU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65176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B8C4D0"/>
                </a:solidFill>
                <a:latin typeface="Calibri"/>
              </a:rPr>
              <a:t>socket client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07992" y="3063240"/>
            <a:ext cx="3246120" cy="2331720"/>
          </a:xfrm>
          <a:prstGeom prst="rect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2" y="3200400"/>
            <a:ext cx="30175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4F7FA"/>
                </a:solidFill>
                <a:latin typeface="Consolas"/>
              </a:rPr>
              <a:t>cd /tmp/hfm-verify/scripts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5C2D1"/>
                </a:solidFill>
                <a:latin typeface="Consolas"/>
              </a:rPr>
              <a:t>./launch_hfm.sh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B8C4D0"/>
                </a:solidFill>
                <a:latin typeface="Consolas"/>
              </a:rPr>
              <a:t># press Enter, watch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B8C4D0"/>
                </a:solidFill>
                <a:latin typeface="Consolas"/>
              </a:rPr>
              <a:t># boot + reverse probe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0144" y="1600200"/>
            <a:ext cx="3611880" cy="3977639"/>
          </a:xfrm>
          <a:prstGeom prst="rect">
            <a:avLst/>
          </a:prstGeom>
          <a:solidFill>
            <a:srgbClr val="1E3A5F"/>
          </a:solidFill>
          <a:ln w="15875">
            <a:solidFill>
              <a:srgbClr val="4CC9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0144" y="1600200"/>
            <a:ext cx="3611880" cy="566928"/>
          </a:xfrm>
          <a:prstGeom prst="rect">
            <a:avLst/>
          </a:prstGeom>
          <a:solidFill>
            <a:srgbClr val="4CC9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47304" y="1664208"/>
            <a:ext cx="3337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B1F3A"/>
                </a:solidFill>
                <a:latin typeface="Calibri"/>
              </a:rPr>
              <a:t>Terminal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4" y="228600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4F7FA"/>
                </a:solidFill>
                <a:latin typeface="Calibri"/>
              </a:rPr>
              <a:t>Drive PLDM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265176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B8C4D0"/>
                </a:solidFill>
                <a:latin typeface="Calibri"/>
              </a:rPr>
              <a:t>observe auto-route + forward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93024" y="3063240"/>
            <a:ext cx="3246120" cy="2331720"/>
          </a:xfrm>
          <a:prstGeom prst="rect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0184" y="3200400"/>
            <a:ext cx="30175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4F7FA"/>
                </a:solidFill>
                <a:latin typeface="Consolas"/>
              </a:rPr>
              <a:t>cd /tmp/hfm-verify/scripts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5C2D1"/>
                </a:solidFill>
                <a:latin typeface="Consolas"/>
              </a:rPr>
              <a:t>./drive_bmc_pldm.sh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B8C4D0"/>
                </a:solidFill>
                <a:latin typeface="Consolas"/>
              </a:rPr>
              <a:t># auto-discovered route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B8C4D0"/>
                </a:solidFill>
                <a:latin typeface="Consolas"/>
              </a:rPr>
              <a:t># forward pldmtool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F2A63B"/>
                </a:solidFill>
                <a:latin typeface="Calibri"/>
              </a:rPr>
              <a:t>Order matters: T1 (server) → T2 (client) → T3 (after BMC shows the login banner). All three SSH to the same dev host.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8C4D0"/>
                </a:solidFill>
                <a:latin typeface="Calibri"/>
              </a:rPr>
              <a:t>Hardware Fault Management · RAS API · MCTP/PLDM over QEMU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8C4D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35C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5C2D1"/>
                </a:solidFill>
                <a:latin typeface="Calibri"/>
              </a:rPr>
              <a:t>LIVE DEMO · STEP 1-2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4F7FA"/>
                </a:solidFill>
                <a:latin typeface="Calibri"/>
              </a:rPr>
              <a:t>Boot both QEMUs — the part you can now SEE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49240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F2A6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64208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2A63B"/>
                </a:solidFill>
                <a:latin typeface="Calibri"/>
              </a:rPr>
              <a:t>Terminal 1 — OpenBMC (AST2600)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103120"/>
            <a:ext cx="4892040" cy="1371600"/>
          </a:xfrm>
          <a:prstGeom prst="rect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12848"/>
            <a:ext cx="4617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5C2D1"/>
                </a:solidFill>
                <a:latin typeface="Consolas"/>
              </a:rPr>
              <a:t>./launch_openbmc.sh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B8C4D0"/>
                </a:solidFill>
                <a:latin typeface="Consolas"/>
              </a:rPr>
              <a:t>&lt;Enter&gt;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4F7FA"/>
                </a:solidFill>
                <a:latin typeface="Consolas"/>
              </a:rPr>
              <a:t>...U-Boot / kernel / systemd...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4CC96A"/>
                </a:solidFill>
                <a:latin typeface="Consolas"/>
              </a:rPr>
              <a:t>evb-ast2600 login: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11880"/>
            <a:ext cx="493776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4F7FA"/>
                </a:solidFill>
                <a:latin typeface="Calibri"/>
              </a:rPr>
              <a:t>• Full AST2600 boot is visible (was hidden by the one-shot script).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4F7FA"/>
                </a:solidFill>
                <a:latin typeface="Calibri"/>
              </a:rPr>
              <a:t>• 2nd UART (ttyS0) is exported as the MCTP socket server.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4F7FA"/>
                </a:solidFill>
                <a:latin typeface="Calibri"/>
              </a:rPr>
              <a:t>• Console login root / 0penBmc (T3 uses SSH, no manual login).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554480"/>
            <a:ext cx="5394960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35C2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64208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5C2D1"/>
                </a:solidFill>
                <a:latin typeface="Calibri"/>
              </a:rPr>
              <a:t>Terminal 2 — Zephyr (RISC-V)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103120"/>
            <a:ext cx="4937760" cy="1554480"/>
          </a:xfrm>
          <a:prstGeom prst="rect">
            <a:avLst/>
          </a:prstGeom>
          <a:solidFill>
            <a:srgbClr val="101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212848"/>
            <a:ext cx="46634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5C2D1"/>
                </a:solidFill>
                <a:latin typeface="Consolas"/>
              </a:rPr>
              <a:t>./launch_hfm.sh   &lt;Enter&gt;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4F7FA"/>
                </a:solidFill>
                <a:latin typeface="Consolas"/>
              </a:rPr>
              <a:t>*** Booting Zephyr OS v4.3.0 ***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F4F7FA"/>
                </a:solidFill>
                <a:latin typeface="Consolas"/>
              </a:rPr>
              <a:t>serial_bridge: EID 18 ... ready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F2A63B"/>
                </a:solidFill>
                <a:latin typeface="Consolas"/>
              </a:rPr>
              <a:t>BMC GetTID try 1 rc=-116, retrying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B8C4D0"/>
                </a:solidFill>
                <a:latin typeface="Consolas"/>
              </a:rPr>
              <a:t>  ^ retries until mctpd auto-discovers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794760"/>
            <a:ext cx="49377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4F7FA"/>
                </a:solidFill>
                <a:latin typeface="Calibri"/>
              </a:rPr>
              <a:t>• Zephyr = EID 18: PLDM Type 0/2 + MCTP control responder.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4F7FA"/>
                </a:solidFill>
                <a:latin typeface="Calibri"/>
              </a:rPr>
              <a:t>• Its requester thread probes the BMC and retries (-116) —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B8C4D0"/>
                </a:solidFill>
                <a:latin typeface="Calibri"/>
              </a:rPr>
              <a:t>  normal until mctpd finishes auto-discovery (SetupEndpoint).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4F7FA"/>
                </a:solidFill>
                <a:latin typeface="Calibri"/>
              </a:rPr>
              <a:t>• Then the reverse probe completes on its own — watch here.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8C4D0"/>
                </a:solidFill>
                <a:latin typeface="Calibri"/>
              </a:rPr>
              <a:t>Hardware Fault Management · RAS API · MCTP/PLDM over QEMU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8C4D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35C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5C2D1"/>
                </a:solidFill>
                <a:latin typeface="Calibri"/>
              </a:rPr>
              <a:t>LIVE DEMO · STEP 3 (Terminal 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4F7FA"/>
                </a:solidFill>
                <a:latin typeface="Calibri"/>
              </a:rPr>
              <a:t>Forward path — BMC discovers &amp; polls Zephyr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0927080" cy="2651760"/>
          </a:xfrm>
          <a:prstGeom prst="rect">
            <a:avLst/>
          </a:prstGeom>
          <a:solidFill>
            <a:srgbClr val="101828"/>
          </a:solidFill>
          <a:ln w="12700">
            <a:solidFill>
              <a:srgbClr val="4CC9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64208"/>
            <a:ext cx="1051560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35C2D1"/>
                </a:solidFill>
                <a:latin typeface="Consolas"/>
              </a:rPr>
              <a:t>BMC# mctp route          # installed by mctpd, not by hand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4CC96A"/>
                </a:solidFill>
                <a:latin typeface="Consolas"/>
              </a:rPr>
              <a:t>        eid min 18 max 18 net 1 dev mctpserial0 mtu 68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35C2D1"/>
                </a:solidFill>
                <a:latin typeface="Consolas"/>
              </a:rPr>
              <a:t>BMC# pldmtool base GetTID -m 18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4CC96A"/>
                </a:solidFill>
                <a:latin typeface="Consolas"/>
              </a:rPr>
              <a:t>        GetTID rc=0            →  Response: 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35C2D1"/>
                </a:solidFill>
                <a:latin typeface="Consolas"/>
              </a:rPr>
              <a:t>BMC# pldmtool base GetPLDMTypes -m 18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4CC96A"/>
                </a:solidFill>
                <a:latin typeface="Consolas"/>
              </a:rPr>
              <a:t>        GetPLDMTypes rc=0      →  base(0) + platform(2)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35C2D1"/>
                </a:solidFill>
                <a:latin typeface="Consolas"/>
              </a:rPr>
              <a:t>BMC# pldmtool platform GetPDR -m 18 -d 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4CC96A"/>
                </a:solidFill>
                <a:latin typeface="Consolas"/>
              </a:rPr>
              <a:t>        Terminus Locator PDR, recordHandle 1, TID 1, EID 18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35C2D1"/>
                </a:solidFill>
                <a:latin typeface="Consolas"/>
              </a:rPr>
              <a:t>BMC# pldmtool platform GetSensorReading -m 18 -i 1 --rearm 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4CC96A"/>
                </a:solidFill>
                <a:latin typeface="Consolas"/>
              </a:rPr>
              <a:t>        presentReading 31, Sensor Enabled, Sensor Normal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89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4F7FA"/>
                </a:solidFill>
                <a:latin typeface="Calibri"/>
              </a:rPr>
              <a:t>mctpd auto-installed the EID-18 route (no manual route add); drive_bmc_pldm.sh then polls over the REAL kernel AF_MCTP stack.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937760"/>
            <a:ext cx="10927080" cy="10058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029200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2A63B"/>
                </a:solidFill>
                <a:latin typeface="Calibri"/>
              </a:rPr>
              <a:t>Point out: </a:t>
            </a:r>
            <a:r>
              <a:rPr sz="1400" b="0" i="0">
                <a:solidFill>
                  <a:srgbClr val="F4F7FA"/>
                </a:solidFill>
                <a:latin typeface="Calibri"/>
              </a:rPr>
              <a:t>GetPDR returns a real Terminus Locator PDR and the sensor reading (die-temp = 31°C) — this is Hardware Fault Management telemetry actually flowing over the wire.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8C4D0"/>
                </a:solidFill>
                <a:latin typeface="Calibri"/>
              </a:rPr>
              <a:t>Hardware Fault Management · RAS API · MCTP/PLDM over QEMU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8C4D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35C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5C2D1"/>
                </a:solidFill>
                <a:latin typeface="Calibri"/>
              </a:rPr>
              <a:t>LIVE DEMO · STEP 4 (watch Terminal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4F7FA"/>
                </a:solidFill>
                <a:latin typeface="Calibri"/>
              </a:rPr>
              <a:t>Reverse path — Zephyr → BMC (patch 0009)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5349240" cy="2148840"/>
          </a:xfrm>
          <a:prstGeom prst="rect">
            <a:avLst/>
          </a:prstGeom>
          <a:solidFill>
            <a:srgbClr val="1E3A5F"/>
          </a:solidFill>
          <a:ln w="12700">
            <a:solidFill>
              <a:srgbClr val="E5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55A5A"/>
                </a:solidFill>
                <a:latin typeface="Calibri"/>
              </a:rPr>
              <a:t>The bug (before 0009)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498348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4F7FA"/>
                </a:solidFill>
                <a:latin typeface="Calibri"/>
              </a:rPr>
              <a:t>Zephyr requester sent with the MCTP tag-owner (TO) bit = 0.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4F7FA"/>
                </a:solidFill>
                <a:latin typeface="Calibri"/>
              </a:rPr>
              <a:t>Linux AF_MCTP delivers an inbound SOM frame to a bound socket only when TO = 1; TO = 0 is treated as an orphan response and dropped (-ENOENT).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B8C4D0"/>
                </a:solidFill>
                <a:latin typeface="Calibri"/>
              </a:rPr>
              <a:t>Symptom: rx_packets grows, tx stays 0, every call -ETIMEDOUT.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508760"/>
            <a:ext cx="5394960" cy="2148840"/>
          </a:xfrm>
          <a:prstGeom prst="rect">
            <a:avLst/>
          </a:prstGeom>
          <a:solidFill>
            <a:srgbClr val="1E3A5F"/>
          </a:solidFill>
          <a:ln w="12700">
            <a:solidFill>
              <a:srgbClr val="4CC9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4CC96A"/>
                </a:solidFill>
                <a:latin typeface="Calibri"/>
              </a:rPr>
              <a:t>The fix (patch 0009)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498348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4F7FA"/>
                </a:solidFill>
                <a:latin typeface="Calibri"/>
              </a:rPr>
              <a:t>In pldm.c pldm_send_request_sync():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5C2D1"/>
                </a:solidFill>
                <a:latin typeface="Consolas"/>
              </a:rPr>
              <a:t>MCTP_MESSAGE_TO_DST  →  MCTP_MESSAGE_TO_SRC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4F7FA"/>
                </a:solidFill>
                <a:latin typeface="Calibri"/>
              </a:rPr>
              <a:t>Requester now sets TO = 1, so the kernel routes the request to the bound responder socket.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4CC96A"/>
                </a:solidFill>
                <a:latin typeface="Calibri"/>
              </a:rPr>
              <a:t>Merged in RASAPI (PR #1).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794760"/>
            <a:ext cx="10927080" cy="1874519"/>
          </a:xfrm>
          <a:prstGeom prst="rect">
            <a:avLst/>
          </a:prstGeom>
          <a:solidFill>
            <a:srgbClr val="101828"/>
          </a:solidFill>
          <a:ln w="12700">
            <a:solidFill>
              <a:srgbClr val="4CC9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904487"/>
            <a:ext cx="10515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B8C4D0"/>
                </a:solidFill>
                <a:latin typeface="Consolas"/>
              </a:rPr>
              <a:t>Zephyr console (answered by the stock BMC pldmd, no manual responder):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4CC96A"/>
                </a:solidFill>
                <a:latin typeface="Consolas"/>
              </a:rPr>
              <a:t>&lt;inf&gt; serial_bridge: BMC GetTID -&gt; 0x01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4CC96A"/>
                </a:solidFill>
                <a:latin typeface="Consolas"/>
              </a:rPr>
              <a:t>&lt;inf&gt; serial_bridge: BMC GetPLDMTypes -&gt; byte0=0x1d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4CC96A"/>
                </a:solidFill>
                <a:latin typeface="Consolas"/>
              </a:rPr>
              <a:t>&lt;inf&gt; serial_bridge: BMC GetPLDMVersion(BASE) -&gt; 1.0.0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4CC96A"/>
                </a:solidFill>
                <a:latin typeface="Consolas"/>
              </a:rPr>
              <a:t>&lt;inf&gt; serial_bridge: Reverse-direction PLDM probe to BMC complete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8C4D0"/>
                </a:solidFill>
                <a:latin typeface="Calibri"/>
              </a:rPr>
              <a:t>Hardware Fault Management · RAS API · MCTP/PLDM over QEMU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8C4D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35C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5C2D1"/>
                </a:solidFill>
                <a:latin typeface="Calibri"/>
              </a:rPr>
              <a:t>FULL AUTO-DISCOVERY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4F7FA"/>
                </a:solidFill>
                <a:latin typeface="Calibri"/>
              </a:rPr>
              <a:t>Three fixes that make mctpd self-discover at boot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0927080" cy="2286000"/>
          </a:xfrm>
          <a:prstGeom prst="rect">
            <a:avLst/>
          </a:prstGeom>
          <a:solidFill>
            <a:srgbClr val="1E3A5F"/>
          </a:solidFill>
          <a:ln w="12700">
            <a:solidFill>
              <a:srgbClr val="4CC9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6420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4CC96A"/>
                </a:solidFill>
                <a:latin typeface="Calibri"/>
              </a:rPr>
              <a:t>Cold boot, zero manual steps — mctpd finds EID 18 on its 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1051560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5C2D1"/>
                </a:solidFill>
                <a:latin typeface="Calibri"/>
              </a:rPr>
              <a:t>1.  </a:t>
            </a:r>
            <a:r>
              <a:rPr sz="1350" b="1" i="0">
                <a:solidFill>
                  <a:srgbClr val="35C2D1"/>
                </a:solidFill>
                <a:latin typeface="Calibri"/>
              </a:rPr>
              <a:t>Kernel (patch 0010): </a:t>
            </a:r>
            <a:r>
              <a:rPr sz="1350" b="0" i="0">
                <a:solidFill>
                  <a:srgbClr val="F4F7FA"/>
                </a:solidFill>
                <a:latin typeface="Calibri"/>
              </a:rPr>
              <a:t>6.6.92's for_each_netdev_dump() used xa_for_each_start(), whose cursor never advances at end-of-walk — so the AF_MCTP address dump (mctp_dump_addrinfo) never emits NLMSG_DONE and mctpd spins at 100% CPU. Backport upstream cfa7fa02078d.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5C2D1"/>
                </a:solidFill>
                <a:latin typeface="Calibri"/>
              </a:rPr>
              <a:t>2.  </a:t>
            </a:r>
            <a:r>
              <a:rPr sz="1350" b="1" i="0">
                <a:solidFill>
                  <a:srgbClr val="35C2D1"/>
                </a:solidFill>
                <a:latin typeface="Calibri"/>
              </a:rPr>
              <a:t>Zephyr control responder (patch 0011): </a:t>
            </a:r>
            <a:r>
              <a:rPr sz="1350" b="0" i="0">
                <a:solidFill>
                  <a:srgbClr val="F4F7FA"/>
                </a:solidFill>
                <a:latin typeface="Calibri"/>
              </a:rPr>
              <a:t>control replies wrongly set TO = 1; the BMC kernel treats them as new requests and the mctpd physical-addressing discovery query times out. Reply with TO = 0.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5C2D1"/>
                </a:solidFill>
                <a:latin typeface="Calibri"/>
              </a:rPr>
              <a:t>3.  </a:t>
            </a:r>
            <a:r>
              <a:rPr sz="1350" b="1" i="0">
                <a:solidFill>
                  <a:srgbClr val="35C2D1"/>
                </a:solidFill>
                <a:latin typeface="Calibri"/>
              </a:rPr>
              <a:t>BMC systemd order (patch 0006): </a:t>
            </a:r>
            <a:r>
              <a:rPr sz="1350" b="0" i="0">
                <a:solidFill>
                  <a:srgbClr val="F4F7FA"/>
                </a:solidFill>
                <a:latin typeface="Calibri"/>
              </a:rPr>
              <a:t>mctpd snapshots the link table once at startup, so the serial link must exist first. Split into mctp-local.service (Before mctpd) + mctp-setup-endpoint.service (After mctpd).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023360"/>
            <a:ext cx="10927080" cy="1737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33087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5C2D1"/>
                </a:solidFill>
                <a:latin typeface="Calibri"/>
              </a:rPr>
              <a:t>Verified end to end on a from-recipe rebuild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5720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4CC96A"/>
                </a:solidFill>
                <a:latin typeface="Calibri"/>
              </a:rPr>
              <a:t>✓  </a:t>
            </a:r>
            <a:r>
              <a:rPr sz="1400" b="0" i="0">
                <a:solidFill>
                  <a:srgbClr val="F4F7FA"/>
                </a:solidFill>
                <a:latin typeface="Calibri"/>
              </a:rPr>
              <a:t>mctp-local → mctpd → mctp-setup-endpoint all active; SetupEndpoint succeeds, endpoints/18 published on D-Bus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4CC96A"/>
                </a:solidFill>
                <a:latin typeface="Calibri"/>
              </a:rPr>
              <a:t>✓  </a:t>
            </a:r>
            <a:r>
              <a:rPr sz="1400" b="0" i="0">
                <a:solidFill>
                  <a:srgbClr val="F4F7FA"/>
                </a:solidFill>
                <a:latin typeface="Calibri"/>
              </a:rPr>
              <a:t>mctpd auto-installs the kernel route (eid 18 dev mctpserial0); forward pldmtool GetTID/PDR/Sensor all rc=0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4CC96A"/>
                </a:solidFill>
                <a:latin typeface="Calibri"/>
              </a:rPr>
              <a:t>✓  </a:t>
            </a:r>
            <a:r>
              <a:rPr sz="1400" b="0" i="0">
                <a:solidFill>
                  <a:srgbClr val="F4F7FA"/>
                </a:solidFill>
                <a:latin typeface="Calibri"/>
              </a:rPr>
              <a:t>Reverse probe (patch 0009) completes on its own — answered by the stock pldmd, no manual responder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8C4D0"/>
                </a:solidFill>
                <a:latin typeface="Calibri"/>
              </a:rPr>
              <a:t>Hardware Fault Management · RAS API · MCTP/PLDM over QEMU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8C4D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45720"/>
          </a:xfrm>
          <a:prstGeom prst="rect">
            <a:avLst/>
          </a:prstGeom>
          <a:solidFill>
            <a:srgbClr val="35C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5C2D1"/>
                </a:solidFill>
                <a:latin typeface="Calibri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4F7FA"/>
                </a:solidFill>
                <a:latin typeface="Calibri"/>
              </a:rPr>
              <a:t>The whole demo — three terminals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691640"/>
            <a:ext cx="502920" cy="640080"/>
          </a:xfrm>
          <a:prstGeom prst="ellipse">
            <a:avLst/>
          </a:prstGeom>
          <a:solidFill>
            <a:srgbClr val="35C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64792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B1F3A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325880" y="1691640"/>
            <a:ext cx="7498079" cy="640080"/>
          </a:xfrm>
          <a:prstGeom prst="rect">
            <a:avLst/>
          </a:prstGeom>
          <a:solidFill>
            <a:srgbClr val="101828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1764792"/>
            <a:ext cx="7269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35C2D1"/>
                </a:solidFill>
                <a:latin typeface="Consolas"/>
              </a:rPr>
              <a:t>T1:  ./launch_openbmc.sh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1764792"/>
            <a:ext cx="3017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B8C4D0"/>
                </a:solidFill>
                <a:latin typeface="Calibri"/>
              </a:rPr>
              <a:t>boot OpenBMC (server) → login: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478024"/>
            <a:ext cx="502920" cy="640080"/>
          </a:xfrm>
          <a:prstGeom prst="ellipse">
            <a:avLst/>
          </a:prstGeom>
          <a:solidFill>
            <a:srgbClr val="35C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51176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B1F3A"/>
                </a:solidFill>
                <a:latin typeface="Calibr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25880" y="2478024"/>
            <a:ext cx="7498079" cy="640080"/>
          </a:xfrm>
          <a:prstGeom prst="rect">
            <a:avLst/>
          </a:prstGeom>
          <a:solidFill>
            <a:srgbClr val="101828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2551176"/>
            <a:ext cx="7269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35C2D1"/>
                </a:solidFill>
                <a:latin typeface="Consolas"/>
              </a:rPr>
              <a:t>T2:  ./launch_hfm.sh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2551176"/>
            <a:ext cx="3017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B8C4D0"/>
                </a:solidFill>
                <a:latin typeface="Calibri"/>
              </a:rPr>
              <a:t>boot Zephyr (client), watch retries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264408"/>
            <a:ext cx="502920" cy="640080"/>
          </a:xfrm>
          <a:prstGeom prst="ellipse">
            <a:avLst/>
          </a:prstGeom>
          <a:solidFill>
            <a:srgbClr val="35C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337560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B1F3A"/>
                </a:solidFill>
                <a:latin typeface="Calibri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25880" y="3264408"/>
            <a:ext cx="7498079" cy="640080"/>
          </a:xfrm>
          <a:prstGeom prst="rect">
            <a:avLst/>
          </a:prstGeom>
          <a:solidFill>
            <a:srgbClr val="101828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3337560"/>
            <a:ext cx="7269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35C2D1"/>
                </a:solidFill>
                <a:latin typeface="Consolas"/>
              </a:rPr>
              <a:t>T3:  ./drive_bmc_pldm.sh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3337560"/>
            <a:ext cx="3017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B8C4D0"/>
                </a:solidFill>
                <a:latin typeface="Calibri"/>
              </a:rPr>
              <a:t>observe auto-route + forward pldmtool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050791"/>
            <a:ext cx="502920" cy="640080"/>
          </a:xfrm>
          <a:prstGeom prst="ellipse">
            <a:avLst/>
          </a:prstGeom>
          <a:solidFill>
            <a:srgbClr val="35C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123944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B1F3A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25880" y="4050791"/>
            <a:ext cx="7498079" cy="640080"/>
          </a:xfrm>
          <a:prstGeom prst="rect">
            <a:avLst/>
          </a:prstGeom>
          <a:solidFill>
            <a:srgbClr val="101828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63040" y="4123944"/>
            <a:ext cx="7269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35C2D1"/>
                </a:solidFill>
                <a:latin typeface="Consolas"/>
              </a:rPr>
              <a:t>T3 output:  GetTID/PDR/Sensor rc=0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4123944"/>
            <a:ext cx="3017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B8C4D0"/>
                </a:solidFill>
                <a:latin typeface="Calibri"/>
              </a:rPr>
              <a:t>forward path verified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4837176"/>
            <a:ext cx="502920" cy="640080"/>
          </a:xfrm>
          <a:prstGeom prst="ellipse">
            <a:avLst/>
          </a:prstGeom>
          <a:solidFill>
            <a:srgbClr val="35C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910328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B1F3A"/>
                </a:solidFill>
                <a:latin typeface="Calibri"/>
              </a:rP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25880" y="4837176"/>
            <a:ext cx="7498079" cy="640080"/>
          </a:xfrm>
          <a:prstGeom prst="rect">
            <a:avLst/>
          </a:prstGeom>
          <a:solidFill>
            <a:srgbClr val="101828"/>
          </a:solidFill>
          <a:ln w="63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4910328"/>
            <a:ext cx="7269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35C2D1"/>
                </a:solidFill>
                <a:latin typeface="Consolas"/>
              </a:rPr>
              <a:t>T2 output:  'Reverse-direction ... complete'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4910328"/>
            <a:ext cx="3017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B8C4D0"/>
                </a:solidFill>
                <a:latin typeface="Calibri"/>
              </a:rPr>
              <a:t>reverse path (patch 0009)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4F7FA"/>
                </a:solidFill>
                <a:latin typeface="Calibri"/>
              </a:rPr>
              <a:t>Full presenter script with expected output &amp; fallbacks: </a:t>
            </a:r>
            <a:r>
              <a:rPr sz="1400" b="1" i="0">
                <a:solidFill>
                  <a:srgbClr val="35C2D1"/>
                </a:solidFill>
                <a:latin typeface="Consolas"/>
              </a:rPr>
              <a:t>DEMO_GUIDE.md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8C4D0"/>
                </a:solidFill>
                <a:latin typeface="Calibri"/>
              </a:rPr>
              <a:t>Hardware Fault Management · RAS API · MCTP/PLDM over QEMU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B8C4D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91695" cy="54864"/>
          </a:xfrm>
          <a:prstGeom prst="rect">
            <a:avLst/>
          </a:prstGeom>
          <a:solidFill>
            <a:srgbClr val="35C2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4F7FA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B8C4D0"/>
                </a:solidFill>
                <a:latin typeface="Calibri"/>
              </a:rPr>
              <a:t>Hardware Fault Management RAS API — MCTP / PLDM over QEMU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881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4F7FA"/>
                </a:solidFill>
                <a:latin typeface="Calibri"/>
              </a:rPr>
              <a:t>Repo:  OCP-China-Projects/Hardware-Fault-Management  ·  branch RASAPI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B8C4D0"/>
                </a:solidFill>
                <a:latin typeface="Calibri"/>
              </a:rPr>
              <a:t>Design:  docs/pldm-mctp-i3c-design.md   ·   Build:  README.md   ·   Patches:  patches/README.md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B8C4D0"/>
                </a:solidFill>
                <a:latin typeface="Calibri"/>
              </a:rPr>
              <a:t>Demo host:  internal dev machine   ·   Presenter guide:  DEMO_GUIDE.md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